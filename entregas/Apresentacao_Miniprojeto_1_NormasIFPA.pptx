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4e575c53dd469d" /><Relationship Type="http://schemas.openxmlformats.org/officeDocument/2006/relationships/extended-properties" Target="/docProps/app.xml" Id="R72ac8bfdc6ca47fe" /><Relationship Type="http://schemas.openxmlformats.org/officeDocument/2006/relationships/officeDocument" Target="/ppt/presentation.xml" Id="R0d257544fd1b42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3cf6cd1e00427c"/>
  </p:sldMasterIdLst>
  <p:notesMasterIdLst>
    <p:notesMasterId xmlns:r="http://schemas.openxmlformats.org/officeDocument/2006/relationships" r:id="R11ed5047c23b4955"/>
  </p:notesMasterIdLst>
  <p:sldIdLst>
    <p:sldId xmlns:r="http://schemas.openxmlformats.org/officeDocument/2006/relationships" id="256" r:id="R9786cc01ea0a40b1"/>
    <p:sldId xmlns:r="http://schemas.openxmlformats.org/officeDocument/2006/relationships" id="257" r:id="R7ee46bf318184a25"/>
    <p:sldId xmlns:r="http://schemas.openxmlformats.org/officeDocument/2006/relationships" id="258" r:id="R531b365bdb4d4ab8"/>
    <p:sldId xmlns:r="http://schemas.openxmlformats.org/officeDocument/2006/relationships" id="259" r:id="R235840571b324752"/>
    <p:sldId xmlns:r="http://schemas.openxmlformats.org/officeDocument/2006/relationships" id="260" r:id="R64000198d15745b3"/>
    <p:sldId xmlns:r="http://schemas.openxmlformats.org/officeDocument/2006/relationships" id="261" r:id="Rfe01c8f7baca43e6"/>
    <p:sldId xmlns:r="http://schemas.openxmlformats.org/officeDocument/2006/relationships" id="262" r:id="R86bb5d95f90340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2cae88d7904239" /><Relationship Type="http://schemas.openxmlformats.org/officeDocument/2006/relationships/slideMaster" Target="/ppt/slideMasters/slideMaster1.xml" Id="Rd13cf6cd1e00427c" /><Relationship Type="http://schemas.openxmlformats.org/officeDocument/2006/relationships/notesMaster" Target="/ppt/notesMasters/notesMaster1.xml" Id="R11ed5047c23b4955" /><Relationship Type="http://schemas.openxmlformats.org/officeDocument/2006/relationships/presProps" Target="/ppt/presProps.xml" Id="Ree477a6128ed4849" /><Relationship Type="http://schemas.openxmlformats.org/officeDocument/2006/relationships/tableStyles" Target="/ppt/tableStyles.xml" Id="R01d46876b4314170" /><Relationship Type="http://schemas.openxmlformats.org/officeDocument/2006/relationships/slide" Target="/ppt/slides/slide1.xml" Id="R9786cc01ea0a40b1" /><Relationship Type="http://schemas.openxmlformats.org/officeDocument/2006/relationships/slide" Target="/ppt/slides/slide2.xml" Id="R7ee46bf318184a25" /><Relationship Type="http://schemas.openxmlformats.org/officeDocument/2006/relationships/slide" Target="/ppt/slides/slide3.xml" Id="R531b365bdb4d4ab8" /><Relationship Type="http://schemas.openxmlformats.org/officeDocument/2006/relationships/slide" Target="/ppt/slides/slide4.xml" Id="R235840571b324752" /><Relationship Type="http://schemas.openxmlformats.org/officeDocument/2006/relationships/slide" Target="/ppt/slides/slide5.xml" Id="R64000198d15745b3" /><Relationship Type="http://schemas.openxmlformats.org/officeDocument/2006/relationships/slide" Target="/ppt/slides/slide6.xml" Id="Rfe01c8f7baca43e6" /><Relationship Type="http://schemas.openxmlformats.org/officeDocument/2006/relationships/slide" Target="/ppt/slides/slide7.xml" Id="R86bb5d95f90340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baca54d94f4b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1236077d5d4bc8" /><Relationship Type="http://schemas.openxmlformats.org/officeDocument/2006/relationships/notesMaster" Target="/ppt/notesMasters/notesMaster1.xml" Id="Ref5f8105be6d4e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472059593b4f1e" /><Relationship Type="http://schemas.openxmlformats.org/officeDocument/2006/relationships/notesMaster" Target="/ppt/notesMasters/notesMaster1.xml" Id="Rcf55b2cbc30c45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11946e16f642c5" /><Relationship Type="http://schemas.openxmlformats.org/officeDocument/2006/relationships/notesMaster" Target="/ppt/notesMasters/notesMaster1.xml" Id="R2b55e91768974e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2c8bf17e3e4dc7" /><Relationship Type="http://schemas.openxmlformats.org/officeDocument/2006/relationships/notesMaster" Target="/ppt/notesMasters/notesMaster1.xml" Id="R08c230110c414c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b5fceb10bb4113" /><Relationship Type="http://schemas.openxmlformats.org/officeDocument/2006/relationships/notesMaster" Target="/ppt/notesMasters/notesMaster1.xml" Id="R9af85c70edf247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96efae17874583" /><Relationship Type="http://schemas.openxmlformats.org/officeDocument/2006/relationships/notesMaster" Target="/ppt/notesMasters/notesMaster1.xml" Id="R4e5884c7a5ac4d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296d7418194920" /><Relationship Type="http://schemas.openxmlformats.org/officeDocument/2006/relationships/notesMaster" Target="/ppt/notesMasters/notesMaster1.xml" Id="R086219c11cab44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Boa noite. Somos a equipe [GRUPO X] e apresentamos o NormasIFPA, um assistente acadêmico que consulta documentos oficiais antes de responder. Nosso foco foi reduzir o tempo de busca em PDFs extensos e impedir respostas inventadas sobre regras acadêmicas. Apresente os nomes e os papéis de cada integrante. Tempo previsto: 35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Hoje, uma dúvida simples sobre aprovação, recuperação ou trancamento exige localizar o documento correto e interpretar vários artigos. Um modelo de linguagem isolado pode misturar normas de outras instituições. A nossa solução força o agente a pesquisar a base oficial, recuperar trechos relevantes e citar arquivo e página. Se a evidência não existir, ele informa que não encontrou a regra. A Resolução 944 vale para graduação. A 945 vale para educação básica e profissional. Tempo acumulado: 2 minutos.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https://proen.ifpa.edu.br/documentos-1/regulamento-didatico-de-ensino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fluxo começa com a pergunta do usuário. A validação bloqueia padrões de prompt injection. O agente ReAct decide usar a Tool documental. A Tool consulta o Retriever, que busca no ChromaDB os quatro fragmentos mais relevantes. Esses fragmentos retornam ao modelo com fonte e página. Só então o agente formula a resposta. A memória fica isolada por sessão e o limite de recursão evita loops. Percorra o diagrama da esquerda para a direita. Tempo acumulado: 3 minutos e 20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Indexamos quatro fontes: os dois regulamentos, o PPC do curso e o calendário de 2026. Usamos chunks de 900 caracteres e overlap de 150. Esse valor preserva artigos sem criar vetores demais. O modelo principal de embeddings é o gemini-embedding-001 e o índice fica persistido no ChromaDB. O top-k quatro limita o contexto enviado e reduz custo. Esses parâmetros precisam ser medidos em produção com uma bateria maior de perguntas. Tempo acumulado: 4 minutos e 25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https://ananindeua.ifpa.edu.br/component/content/article/2-uncategorised/629-curso-graduacao | https://ananindeua.ifpa.edu.br/ultimas-noticias/1292-calendario-2026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docstring da Tool funciona como contrato: informa quando consultar e o que a função devolve. O System Prompt proíbe respostas sem evidência, exige citação e prioriza o regulamento de graduação. Segredos ficam fora do código. Em falha de rede, o modo local mantém a recuperação e produz uma resposta extrativa. Agora passamos para a demonstração. Tempo acumulado: 5 minutos.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perguntar: Qual é a média necessária para aprovação em um componente curricular da graduação? Primeiro, o agente seleciona a Tool consultar_documentos_ifpa. Em seguida, o Retriever localiza o Art. 272 da Resolução 944, página 70. A observação volta ao agente e a resposta informa média final maior ou igual a 7,00, com a fonte. Depois, mostre uma tentativa de prompt injection. A validação bloqueia a consulta antes de consumir a API. Se a API falhar, execute a mesma pergunta no modo local. Não improvise uma nova pergunta durante a defesa. Tempo acumulado: 9 minutos.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Nos testes locais, a evidência correta apareceu entre os quatro primeiros resultados em quatro de quatro perguntas: aprovação, recuperação, trancamento e duração do curso. O ganho principal é a rastreabilidade. Ainda precisamos ampliar a base, medir a precisão com mais perguntas e criar uma interface web. Mesmo assim, o protótipo demonstra um fluxo completo e seguro de RAG com agente ReAct. Obrigado. Estamos à disposição para a sabatina. Encerre até 9 minutos e 50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ad17c710104a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c0983230c4a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f68d13cab647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ca14507b5d4d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bbb5df81664e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e5e69ee5a04e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8B5993-80FD-43F4-A281-B82737E43A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C0ABE2-E5BF-4F7B-B5BA-29D7A46B6B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8E3EA1B-C9BA-4EBC-9818-27027E03E2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E6B755-49E2-47BE-A473-E4924D990B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7F34A2C-C2D9-4168-8CC9-8D436BA6F9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CB90B4-6030-454C-A0E4-D596151743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0CD20D-F56B-4332-96FC-5B2C210BBF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C58747C-41C7-401A-B7A2-B6654EAAC5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621E2B-9DF9-4318-94BA-85CD1D7D23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9B8766-0D59-48BB-9C57-449010C8B4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68e2ead9794172" /><Relationship Type="http://schemas.openxmlformats.org/officeDocument/2006/relationships/slideLayout" Target="/ppt/slideLayouts/slideLayout1.xml" Id="Rf9b0d3894d9349a2" /><Relationship Type="http://schemas.openxmlformats.org/officeDocument/2006/relationships/slideLayout" Target="/ppt/slideLayouts/slideLayout2.xml" Id="R8f78c0a51eea4e7e" /><Relationship Type="http://schemas.openxmlformats.org/officeDocument/2006/relationships/slideLayout" Target="/ppt/slideLayouts/slideLayout3.xml" Id="R23053e5894954895" /><Relationship Type="http://schemas.openxmlformats.org/officeDocument/2006/relationships/slideLayout" Target="/ppt/slideLayouts/slideLayout4.xml" Id="R5490e0bb46a84311" /><Relationship Type="http://schemas.openxmlformats.org/officeDocument/2006/relationships/slideLayout" Target="/ppt/slideLayouts/slideLayout5.xml" Id="R45f32e6a0fc54e1f" /><Relationship Type="http://schemas.openxmlformats.org/officeDocument/2006/relationships/slideLayout" Target="/ppt/slideLayouts/slideLayout6.xml" Id="R9539b636362042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b0d3894d9349a2"/>
    <p:sldLayoutId xmlns:r="http://schemas.openxmlformats.org/officeDocument/2006/relationships" id="2147483650" r:id="R8f78c0a51eea4e7e"/>
    <p:sldLayoutId xmlns:r="http://schemas.openxmlformats.org/officeDocument/2006/relationships" id="2147483651" r:id="R23053e5894954895"/>
    <p:sldLayoutId xmlns:r="http://schemas.openxmlformats.org/officeDocument/2006/relationships" id="2147483652" r:id="R5490e0bb46a84311"/>
    <p:sldLayoutId xmlns:r="http://schemas.openxmlformats.org/officeDocument/2006/relationships" id="2147483653" r:id="R45f32e6a0fc54e1f"/>
    <p:sldLayoutId xmlns:r="http://schemas.openxmlformats.org/officeDocument/2006/relationships" id="2147483654" r:id="R9539b636362042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31ed3080f64474" /><Relationship Type="http://schemas.openxmlformats.org/officeDocument/2006/relationships/notesSlide" Target="/ppt/notesSlides/notesSlide1.xml" Id="R09ca9555aeca46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1a540ea9574c01" /><Relationship Type="http://schemas.openxmlformats.org/officeDocument/2006/relationships/notesSlide" Target="/ppt/notesSlides/notesSlide2.xml" Id="R4db75b780bd34f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287df2e0c44a08" /><Relationship Type="http://schemas.openxmlformats.org/officeDocument/2006/relationships/notesSlide" Target="/ppt/notesSlides/notesSlide3.xml" Id="Re91e9fc8822a49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d776a94f284e89" /><Relationship Type="http://schemas.openxmlformats.org/officeDocument/2006/relationships/notesSlide" Target="/ppt/notesSlides/notesSlide4.xml" Id="Rfb134c4c5f0947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3862d842984b92" /><Relationship Type="http://schemas.openxmlformats.org/officeDocument/2006/relationships/notesSlide" Target="/ppt/notesSlides/notesSlide5.xml" Id="Rcd68420381444a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a115c955d14122" /><Relationship Type="http://schemas.openxmlformats.org/officeDocument/2006/relationships/notesSlide" Target="/ppt/notesSlides/notesSlide6.xml" Id="R603cbcb2928a47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5d82e8f3334aaa" /><Relationship Type="http://schemas.openxmlformats.org/officeDocument/2006/relationships/notesSlide" Target="/ppt/notesSlides/notesSlide7.xml" Id="R7bb5067aeda248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B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8BC35-43B2-411F-9ED1-F01352F3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7ED4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ED4E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ED4E9"/>
                </a:solidFill>
                <a:latin typeface="Arial"/>
                <a:ea typeface="Arial"/>
                <a:cs typeface="Arial"/>
              </a:rPr>
              <a:t>MINIPROJETO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AE985-E051-432E-9703-59EE04F8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NormasIFPA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5043E-5A97-4901-B53A-E87B0D69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DCEA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DCEAF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CEAF3"/>
                </a:solidFill>
                <a:latin typeface="Arial"/>
                <a:ea typeface="Arial"/>
                <a:cs typeface="Arial"/>
              </a:rPr>
              <a:t>Assistente acadêmico com RAG e agente ReAct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DDE20-3A96-43F3-A132-450B1102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2382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6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05C31-1F30-41DE-831C-DB27693A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71625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7ED4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7ED4E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ED4E9"/>
                </a:solidFill>
                <a:latin typeface="Arial"/>
                <a:ea typeface="Arial"/>
                <a:cs typeface="Arial"/>
              </a:rPr>
              <a:t>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C60ED-F94C-4358-A297-64942C8D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002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C5A23-7BE5-4D66-9C5B-6F40BDC0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670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1CE7B-FC93-451C-8A9D-8E78420B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BFD2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D2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D2DF"/>
                </a:solidFill>
                <a:latin typeface="Arial"/>
                <a:ea typeface="Arial"/>
                <a:cs typeface="Arial"/>
              </a:rPr>
              <a:t>[GRUPO X]  ·  [NOMES DOS INTEGRANTES]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3197BF-F788-4E64-AD86-BA6CC6E9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90A9B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90A9B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0A9B9"/>
                </a:solidFill>
                <a:latin typeface="Arial"/>
                <a:ea typeface="Arial"/>
                <a:cs typeface="Arial"/>
              </a:rPr>
              <a:t>IFPA Campus Ananindeua  ·  02/10/2026</a:t>
            </a:r>
          </a:p>
        </p:txBody>
      </p:sp>
    </p:spTree>
    <p:extLst>
      <p:ext uri="{BB962C8B-B14F-4D97-AF65-F5344CB8AC3E}">
        <p14:creationId xmlns:p14="http://schemas.microsoft.com/office/powerpoint/2010/main" val="4986944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A7F9A5-5BE5-48CD-8BC1-5170F4B3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PROBLEMA E PROPOSTA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6FE64-A2FA-4F6C-AE70-39BDA01C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B46"/>
                </a:solidFill>
                <a:latin typeface="Arial"/>
                <a:ea typeface="Arial"/>
                <a:cs typeface="Arial"/>
              </a:rPr>
              <a:t>Dúvidas simples exigem localizar a norma correta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E2A6A-F02E-4849-837E-717B1D7B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4BF1A-74BD-4059-84D3-9C076D55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>
            <a:defPPr>
              <a:defRPr sz="172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2B46"/>
                </a:solidFill>
                <a:latin typeface="Arial"/>
                <a:ea typeface="Arial"/>
                <a:cs typeface="Arial"/>
              </a:rPr>
              <a:t>O problema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2352A-57E3-41D1-A86D-50FF242F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6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40E69-9D50-4DEA-B4F4-6949582C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PDFs extensos e regras distribuídas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AE8B8-D866-4F32-B346-892F0BAF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6E919-A0F3-487E-8F26-FF7AF923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Risco de misturar normas de outros cursos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5A553-7600-4E81-89B2-8BE95E14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48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E7B2B-5A9B-4CDE-B52C-6FC732E6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Respostas sem fonte dificultam a conferência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8E885-A05C-4C61-8419-5A50126A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145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6FC7E-131B-4487-B4B7-378871CF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>
            <a:defPPr>
              <a:defRPr sz="172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2B46"/>
                </a:solidFill>
                <a:latin typeface="Arial"/>
                <a:ea typeface="Arial"/>
                <a:cs typeface="Arial"/>
              </a:rPr>
              <a:t>A proposta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DB1F9-1C16-4DEF-8A2D-64AED92D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050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0C1C7-A59D-4DA4-BAB5-2A1F4A20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4790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Recuperar trechos oficiais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6FF39-FE06-499A-8AE6-A693AA61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7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4D0A9-FB8F-48CE-8914-D2473F28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480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Responder com arquivo e página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F5CA3F-30B5-4458-A754-512B6A6C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C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F69FB5-9B9D-4BDC-8836-3AA65202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481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Abster-se quando faltar evidência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BACBF9-CB25-44C6-BB4B-A9EF8F75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B4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944/2023 · graduação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70E0F2-E816-4876-9566-3FD48964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5775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77"/>
          </a:bodyPr>
          <a:lstStyle xmlns:a="http://schemas.openxmlformats.org/drawingml/2006/main">
            <a:defPPr>
              <a:defRPr sz="112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2B46"/>
                </a:solidFill>
                <a:latin typeface="Arial"/>
                <a:ea typeface="Arial"/>
                <a:cs typeface="Arial"/>
              </a:rPr>
              <a:t>945/2023 · educação básica e profissional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39B3F-9EE1-4B51-AE91-6820A526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865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NormasIFPA · Miniprojeto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9B0287-E9E8-4CDD-A93A-49750FB0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>
              <a:defRPr sz="825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038444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379DC2-F9D8-4D32-9BF3-082599F5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FLUXO TÉCNICO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EEE60-50C8-4055-A5AA-264044C2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B46"/>
                </a:solidFill>
                <a:latin typeface="Arial"/>
                <a:ea typeface="Arial"/>
                <a:cs typeface="Arial"/>
              </a:rPr>
              <a:t>Arquitetura do assistente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BB840-6A41-4B61-B146-0DA2F420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488EE-30D6-4F1A-AB47-218D66C2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2B46"/>
                </a:solidFill>
                <a:latin typeface="Arial"/>
                <a:ea typeface="Arial"/>
                <a:cs typeface="Arial"/>
              </a:rPr>
              <a:t>Pergunta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6E87E-244F-473E-AB7F-FA7F2B47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7180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2C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E9BC8-24BC-468E-9167-8DF5DD2C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7175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2B46"/>
                </a:solidFill>
                <a:latin typeface="Arial"/>
                <a:ea typeface="Arial"/>
                <a:cs typeface="Arial"/>
              </a:rPr>
              <a:t>Validação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94D0E-35EE-4168-95B9-926DFB22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2C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08777-5A69-4E1A-80B5-CE45EDD8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7175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B4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Agente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2D76D-F4BD-4A67-A31F-82F3BC8C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7180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2C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4B191-ACE3-4937-A6E2-DA15D484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7175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Tool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2995E-A193-492F-8F10-04C163E8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7180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2C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341C0B-C7A3-49F9-B5E2-299A3ED3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7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ChromaDB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 Retriever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5B1EA1-2768-4B8C-8472-46FA85BE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71800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2C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0836BE-5A14-4F76-85AD-DB7DD86D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7175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C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Resposta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 fonte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CA76A-32FB-4EB5-AF37-484CD94F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52875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2B46"/>
                </a:solidFill>
                <a:latin typeface="Arial"/>
                <a:ea typeface="Arial"/>
                <a:cs typeface="Arial"/>
              </a:rPr>
              <a:t>Memória por sessão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CC1E2-C452-4D0B-B34E-D3606E37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52875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2B46"/>
                </a:solidFill>
                <a:latin typeface="Arial"/>
                <a:ea typeface="Arial"/>
                <a:cs typeface="Arial"/>
              </a:rPr>
              <a:t>Metadados: arquivo + página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D8928-8528-4BB8-BD46-2D7E03DB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52875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2B46"/>
                </a:solidFill>
                <a:latin typeface="Arial"/>
                <a:ea typeface="Arial"/>
                <a:cs typeface="Arial"/>
              </a:rPr>
              <a:t>Limite de recursão = 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529BF-D55B-4F35-9B95-157FFCBF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2B46"/>
                </a:solidFill>
                <a:latin typeface="Arial"/>
                <a:ea typeface="Arial"/>
                <a:cs typeface="Arial"/>
              </a:rPr>
              <a:t>A Tool separa a busca documental da geração da resposta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4E7464-C55E-413F-B6DB-B200C0D1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865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NormasIFPA · Miniprojeto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55E018-B9B2-414C-8429-0062D56A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>
              <a:defRPr sz="825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539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FE68A9-7403-4B78-A0E9-7E55D442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RECUPERAÇÃO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22210-6ECE-4101-A688-C6B24B9D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B46"/>
                </a:solidFill>
                <a:latin typeface="Arial"/>
                <a:ea typeface="Arial"/>
                <a:cs typeface="Arial"/>
              </a:rPr>
              <a:t>Pipeline RAG e controle de custo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5CF1A-251F-4959-8AAF-3162C6D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045EE-9BCE-41C0-989A-C816D93C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17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2B46"/>
                </a:solidFill>
                <a:latin typeface="Arial"/>
                <a:ea typeface="Arial"/>
                <a:cs typeface="Arial"/>
              </a:rPr>
              <a:t>4 fontes oficiais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EF14F-0542-43CA-B774-162CD353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5DE54-91CB-49A7-A3A6-F301D350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Resoluções 944 e 945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7CA7E-06FC-4C8E-926C-FDF7A41C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55A46-0C46-4218-BD0C-742BB622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PPC de Ciência da Computação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43667-F4A0-4EDA-9AB3-F5BFA7FA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D2285-9BB1-4C45-BE71-CF2AE801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Calendário de Graduação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EC292-BED8-458D-8503-6CFF49B0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76212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598B3-BF73-4B16-B0A1-65B3BFB6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142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900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7B2D9-9901-49B2-966E-86257588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908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caracteres por chunk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6A558-9B55-44F9-A91F-FF71D524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142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39A7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39A7C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9A7C8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EC699A-ED6D-4D3A-8349-DC14DF7D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908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caracteres de overlap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2FDA56-CBD0-4403-B22A-EE8D2224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52625"/>
            <a:ext cx="142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2D8C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D8C6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D8C6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F5EE8-A3CA-47DD-A686-A542A37B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908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trechos recuperados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65251C-FB3D-479A-B275-26F043E0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2B46"/>
                </a:solidFill>
                <a:latin typeface="Arial"/>
                <a:ea typeface="Arial"/>
                <a:cs typeface="Arial"/>
              </a:rPr>
              <a:t>Persistência evita reindexar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1BF705-242F-4187-9ACE-B494DD68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38625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2B46"/>
                </a:solidFill>
                <a:latin typeface="Arial"/>
                <a:ea typeface="Arial"/>
                <a:cs typeface="Arial"/>
              </a:rPr>
              <a:t>Temperatura 0,1 reduz variação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A6AFC-C1E6-4618-8D71-8DCE56EA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5775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21"/>
          </a:bodyPr>
          <a:lstStyle xmlns:a="http://schemas.openxmlformats.org/drawingml/2006/main">
            <a:defPPr>
              <a:defRPr sz="157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2B46"/>
                </a:solidFill>
                <a:latin typeface="Arial"/>
                <a:ea typeface="Arial"/>
                <a:cs typeface="Arial"/>
              </a:rPr>
              <a:t>Menos contexto enviado reduz consumo de tokens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337B45-40F9-47D7-9C4B-FD1857D8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865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NormasIFPA · Miniprojeto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EC5932-2863-4A63-8B84-8F75B1C1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>
              <a:defRPr sz="825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874951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BB61B-BDA7-48AB-9F3A-4CA55304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GOVERNANÇA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6213A-5711-4065-B781-95BB7E24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B46"/>
                </a:solidFill>
                <a:latin typeface="Arial"/>
                <a:ea typeface="Arial"/>
                <a:cs typeface="Arial"/>
              </a:rPr>
              <a:t>Regras do agente e segurança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F54F4-246B-4F74-A229-47FEA06C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BE4FF-D35A-459B-AE09-B46929DA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Contrato da Tool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E0D01-C1FB-430B-B05A-02793396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9070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Define quando consultar e o formato da evidência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1B5C8-F01F-42B1-A4AD-3833FE34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B4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CA9ED-D3F4-4E48-8982-9DD500FD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717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Exige fonte e prioriza o regulamento de graduação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6C009-9350-4EAD-BD17-F19EE020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7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Segredos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89C6E-7CCD-49BF-AD7C-BAD00027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5280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Chaves ficam no Colab Secrets ou em variáveis de ambiente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45259-3272-420F-98D5-FED1ACF3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9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Entrada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1F06B-4CE2-485D-98E1-FE7533B8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338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Padrões de prompt injection são bloqueados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CDA66-3282-45DC-A9A7-A58103BD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C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E8F65-7B48-44E8-A49D-A8241609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1490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Modo local mantém busca e resposta extrativa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3FED12-F474-496B-901D-5D2027EE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865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NormasIFPA · Miniprojeto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6649AE-E836-44D6-ADD4-E6A67862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>
              <a:defRPr sz="825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51669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387A60-B108-4B6F-B76E-B681EE83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EVIDÊNCIA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7A81B-A9D1-4D2B-BC8E-4B1E9F1C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B46"/>
                </a:solidFill>
                <a:latin typeface="Arial"/>
                <a:ea typeface="Arial"/>
                <a:cs typeface="Arial"/>
              </a:rPr>
              <a:t>Demonstração e testes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0F2D3-4DDB-40CD-BBEB-4264A8C2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BD8D6-D4B1-4DE3-B2F1-F6381301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878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78B5"/>
                </a:solidFill>
                <a:latin typeface="Arial"/>
                <a:ea typeface="Arial"/>
                <a:cs typeface="Arial"/>
              </a:rPr>
              <a:t>Pergunta de demonstração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7CBB9-B67D-491A-87DB-8DBCFD5B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5334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B46"/>
                </a:solidFill>
                <a:latin typeface="Arial"/>
                <a:ea typeface="Arial"/>
                <a:cs typeface="Arial"/>
              </a:rPr>
              <a:t>Qual é a média necessária para aprovação?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DE5E5-DB07-44D4-A3DF-DD566D15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75"/>
                </a:solidFill>
                <a:latin typeface="Arial"/>
                <a:ea typeface="Arial"/>
                <a:cs typeface="Arial"/>
              </a:rPr>
              <a:t>Tool chamada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30DC4-CE16-44A5-96F5-318CB7AF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409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consultar_documentos_ifpa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C0CDC-E251-4FCE-B93B-0874BBD7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75"/>
                </a:solidFill>
                <a:latin typeface="Arial"/>
                <a:ea typeface="Arial"/>
                <a:cs typeface="Arial"/>
              </a:rPr>
              <a:t>Evidência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B0B8-32AA-4226-A7CA-1D76B5FE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409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2B46"/>
                </a:solidFill>
                <a:latin typeface="Arial"/>
                <a:ea typeface="Arial"/>
                <a:cs typeface="Arial"/>
              </a:rPr>
              <a:t>Art. 272 · Res. 944/2023 · p. 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32A8B-C34D-49C1-8E00-F50B4ED2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669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4500" b="1">
                <a:solidFill>
                  <a:srgbClr val="2D8C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2D8C6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2D8C6F"/>
                </a:solidFill>
                <a:latin typeface="Arial"/>
                <a:ea typeface="Arial"/>
                <a:cs typeface="Arial"/>
              </a:rPr>
              <a:t>4/4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0E64C-20F9-4DF6-8E3B-5E11F2A2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>
            <a:defPPr>
              <a:defRPr sz="1500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12B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2B46"/>
                </a:solidFill>
                <a:latin typeface="Arial"/>
                <a:ea typeface="Arial"/>
                <a:cs typeface="Arial"/>
              </a:rPr>
              <a:t>perguntas com evidência correta no top-4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E81CE-E94C-4D47-BA1B-729F3865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242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Aprovação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B532D-A17D-4EE2-A499-FFE11B42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242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2D8C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D8C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D8C6F"/>
                </a:solidFill>
                <a:latin typeface="Arial"/>
                <a:ea typeface="Arial"/>
                <a:cs typeface="Arial"/>
              </a:rPr>
              <a:t>MF ≥ 7,00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1A4C4-83C9-4B82-A6FF-CD997937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814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Recuperação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E1B45-308E-4851-BC38-250FD2B1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814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2D8C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D8C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D8C6F"/>
                </a:solidFill>
                <a:latin typeface="Arial"/>
                <a:ea typeface="Arial"/>
                <a:cs typeface="Arial"/>
              </a:rPr>
              <a:t>Art. 282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81416E-F095-4B43-BAAC-41C6ED3E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Trancamento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2AA843-60C3-475A-B905-0670801C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386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2D8C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D8C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D8C6F"/>
                </a:solidFill>
                <a:latin typeface="Arial"/>
                <a:ea typeface="Arial"/>
                <a:cs typeface="Arial"/>
              </a:rPr>
              <a:t>06/01 a 13/02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7AFD10-B30B-4B52-8818-CD1D483C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958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Duração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4669FA-93F6-410B-A709-049C4878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2D8C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D8C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D8C6F"/>
                </a:solidFill>
                <a:latin typeface="Arial"/>
                <a:ea typeface="Arial"/>
                <a:cs typeface="Arial"/>
              </a:rPr>
              <a:t>8 a 12 semestres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9AA12A-72F1-4FE1-88FB-D37D4EF4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965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B4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Plano B: executar o modo local se a API falhar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00B35F-98D0-4A18-98D1-5174B92C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865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NormasIFPA · Miniprojeto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606AFA-F362-42AF-868A-11D2933B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>
            <a:defPPr>
              <a:defRPr sz="825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011474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2B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35D1A-73D9-48B2-BCCE-FE5050D3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7ED4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ED4E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ED4E9"/>
                </a:solidFill>
                <a:latin typeface="Arial"/>
                <a:ea typeface="Arial"/>
                <a:cs typeface="Arial"/>
              </a:rPr>
              <a:t>CONCLUSÃO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C2449-881E-4277-B45E-8438D597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protótipo entrega respostas rastreáveis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1205C-3D49-4DCB-AED7-04D399C8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7ED4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7ED4E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ED4E9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E070D-D476-4564-94AB-04F05044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de 4 evidências recuperadas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8DF55-71F1-4932-882A-EBA0C06F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7ED4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7ED4E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ED4E9"/>
                </a:solidFill>
                <a:latin typeface="Arial"/>
                <a:ea typeface="Arial"/>
                <a:cs typeface="Arial"/>
              </a:rPr>
              <a:t>Limitação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FFD0E-3432-4F74-9593-DF78BD92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477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geração completa depende da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650C0-7D5C-4DBF-9C1E-BA5DFC28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7ED4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7ED4E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ED4E9"/>
                </a:solidFill>
                <a:latin typeface="Arial"/>
                <a:ea typeface="Arial"/>
                <a:cs typeface="Arial"/>
              </a:rPr>
              <a:t>Próximos passos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DF62E-BF4E-4DA8-8DDB-C79923B1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28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86E5B-850E-400C-B54E-9361FA75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24150"/>
            <a:ext cx="3962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Interface web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6AC84-68CD-410C-9E5A-4B00FA9D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0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8383F-990D-4FA8-A3D3-521C8489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95650"/>
            <a:ext cx="3962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Mais documentos do campus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1907B-1CD8-41EB-8D81-CCECBD89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71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82E95-D27F-4C29-9705-CE99276E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67150"/>
            <a:ext cx="3962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Avaliação com mais perguntas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73C9A-A585-4114-A60F-EAA7FC45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43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CA1E67-B866-4B30-B013-3C45D279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38650"/>
            <a:ext cx="3962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Cache de contexto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399778-6334-41D1-81E5-0824EE44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Obrigado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C151B9-2DB8-4D90-8878-F8462CCF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388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7ED4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7ED4E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ED4E9"/>
                </a:solidFill>
                <a:latin typeface="Arial"/>
                <a:ea typeface="Arial"/>
                <a:cs typeface="Arial"/>
              </a:rPr>
              <a:t>Perguntas?</a:t>
            </a:r>
          </a:p>
        </p:txBody>
      </p:sp>
    </p:spTree>
    <p:extLst>
      <p:ext uri="{BB962C8B-B14F-4D97-AF65-F5344CB8AC3E}">
        <p14:creationId xmlns:p14="http://schemas.microsoft.com/office/powerpoint/2010/main" val="699599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2026-10-01T21:36:20.2050000Z</dcterms:created>
  <dcterms:modified xsi:type="dcterms:W3CDTF">2026-10-01T21:36:20.2050000Z</dcterms:modified>
</coreProperties>
</file>